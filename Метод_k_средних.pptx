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инерция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2190.8</c:v>
                </c:pt>
                <c:pt idx="1">
                  <c:v>1283.7</c:v>
                </c:pt>
                <c:pt idx="2">
                  <c:v>1139.2</c:v>
                </c:pt>
                <c:pt idx="3">
                  <c:v>1100.9</c:v>
                </c:pt>
                <c:pt idx="4">
                  <c:v>1053</c:v>
                </c:pt>
                <c:pt idx="5">
                  <c:v>1046.2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шаг алгоритма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инерция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инерция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10350</c:v>
                </c:pt>
                <c:pt idx="1">
                  <c:v>5669</c:v>
                </c:pt>
                <c:pt idx="2">
                  <c:v>2873</c:v>
                </c:pt>
                <c:pt idx="3">
                  <c:v>1660</c:v>
                </c:pt>
                <c:pt idx="4">
                  <c:v>911</c:v>
                </c:pt>
                <c:pt idx="5">
                  <c:v>318</c:v>
                </c:pt>
                <c:pt idx="6">
                  <c:v>253</c:v>
                </c:pt>
                <c:pt idx="7">
                  <c:v>234</c:v>
                </c:pt>
                <c:pt idx="8">
                  <c:v>202</c:v>
                </c:pt>
                <c:pt idx="9">
                  <c:v>187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k – число кластеров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инерция (лучшая из 10 запусков)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начинаем обучение без учителя. Во всем Блоке 1 у нас были правильные ответы: сорт вина, класс объекта. Теперь ответов не будет вовсе, и задача – найти в данных группы похожих объектов. Главный метод – k средних, один из самых старых и самых используемых алгоритмов машинного обучения. На картинке справа – результат, к которому придем в практике: облако точек лидара разбито на шесть объектов, белые крестики – центры кластеров.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картинку и спросите: сколько объектов на парковке? Класс ответит за секунду: шесть. А как это сделать компьютеру? У нас нет ни одного примера с ответом «эти точки – одна машина». Именно такую задачу решает беспилотник, когда получает от лидара облако точек и должен разделить его на отдельные объекты. Сегодня научим компьютер делать это методом k средних.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Поставим задачу кластеризации и договоримся, чем измерять качество, если правильных ответов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два вида обучения из Б1.1. С учителем у нас есть объекты и ответы, и модель учит правило. Без учителя есть только объекты, и модель ищет группы – кластеры: объекты внутри группы похожи, а группы отличаются друг от друга. Примеры: беспилотник выделяет объекты в облаке точек лидара; магазин находит группы покупателей с похожими покупками; при сжатии картинки миллионы цветов заменяют несколькими главными – это задание повышенной сложности.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Важная особенность кластеризации: у нее нет единственного правильного ответа. Пример из книги Гудфеллоу, раздел 5.8.2. Фотографии красных и серых грузовиков и легковушек. Один алгоритм разобьет их на два кластера по типу, другой – по цвету. Оба разбиения разумны, но алгоритм не знает, какое нужно нам. Поэтому результат кластеризации всегда нужно проверять глазами и знанием задачи. Спросите класс: какую группировку выберет инженер беспилотника, а какую – маляр?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описать кластеры? В методе k средних у каждого кластера есть центр – точка в пространстве признаков. Объект относится к кластеру ближайшего центра. Качество измеряем инерцией: это сумма квадратов расстояний от каждого объекта до центра его кластера. Посчитайте на доске: точки (0; 0) и (2; 0), центр (1; 0), инерция 1 + 1 = 2. Чем меньше инерция, тем плотнее кластеры. Число кластеров k задает человек, это гиперпараметр – как k в kNN, но смысл совсем другой.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Как найти центры с наименьшей инерцией? Перебрать все разбиения невозможно, поэтому используют простой итерационный алгоритм Ллойда.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из двух шагов, которые повторяются по очереди. Старт: выбрать k начальных центров, например случайные объекты. Шаг назначения: каждый объект относим к ближайшему центру. Шаг пересчета: каждый центр заменяем средним арифметическим своих объектов – отсюда название «k средних». Повторяем, пока назначения меняются. На картинках – сцена с парковки: слева случайный старт, в середине результат первого шага, справа момент остановки. Обратите внимание на правую картинку: алгоритм остановился, но нашел не все объекты. К этому вернемся в разделе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Посчитайте один шаг вместе с классом, это задания С1–С3. Пять точек, центры (0; 0) и (10; 10). Для каждой точки – квадрат расстояния до обоих центров: корень не нужен, порядок расстояний от него не меняется. Точка (4; 5): 41 до первого центра и 61 до второго, значит, кластер 0. Пересчет: центр кластера 0 – среднее трех точек, (1,67; 1,67); центр кластера 1 – (9,5; 9). Инерция упала с 45,0 до 25,8. Проверьте с классом: на следующем шаге назначения не изменятся, и алгоритм остановится.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алгоритм обязательно остановится? Шаг назначения не увеличивает инерцию: каждый объект выбирает ближайший центр. Шаг пересчета тоже: среднее – точка, до которой сумма квадратов расстояний наименьшая. Проверьте на числах 1, 2, 6: до среднего 3 сумма квадратов 14, до числа 2 – уже 17. Инерция не растет, а разбиений конечное число, значит, ходить по кругу алгоритм не может. На графике – инерция по шагам на сцене с парковки: от 2190,8 до 1046,2 за 6 шагов. Но остановка не значит «лучше не бывает».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Результат k средних зависит от начальных центров. Разберем, почему, и научимся выбирать старт.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лучший результат из десяти запусков: инерция 318,4, все шесть объектов найдены. Справа худший из ста одиночных запусков: 1577,9. Два центра делят одно скопление, а соседние объекты слиты под одним центром. Центры застряли: каждый уже «обслуживает» свои точки, и шагами Ллойда им не выбраться. Это локальный минимум. Случайный старт находит лучшее разбиение в 43 % запусков. Лекарство простое: запустить несколько раз и взять результат с наименьшей инерцией. Посчитайте с классом: вероятность промахнуться все 10 раз 0,57 в десятой степени, около 0,4 %.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Второе лекарство – умный старт k-means++. Первый центр случайный, а каждый следующий выбирается по «рулетке»: объект получает кусок, пропорциональный квадрату расстояния до ближайшего уже выбранного центра. Объекты свободных скоплений далеко от выбранных центров и получают большие куски; объекты рядом с выбранным центром – почти нулевые. Результат: лучшее разбиение за один запуск в 69 % случаев вместо 43 %, средняя инерция 509,6 вместо 742,2. Идеала нет и тут, поэтому в sklearn по умолчанию используют оба приема. Задания С5 и С6.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Осталось два вопроса: как выбрать число кластеров и где метод k средних ошибается.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нельзя просто выбрать k с наименьшей инерцией? Потому что инерция всегда падает с ростом k: при k, равном числу точек, она равна нулю. Смотрим на форму графика. До k = 6 каждый новый центр находит новый объект, и инерция падает в 1,7–2,9 раза. После k = 6 новый центр только дробит уже найденный объект, и падение всего в 1,1–1,3 раза. Излом графика – «локоть» – и есть ответ: шесть объектов. На реальных данных локоть бывает плохо виден, например на Wine; тогда помогают знание задачи и меры качества следующего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Проверим метод на Wine: спрячем сорта и попросим три кластера. Таблица показывает, сколько вин каждого сорта попало в каждый кластер. На исходных признаках чистота всего 0,702: у пролина размах 1402, у остальных признаков единицы и десятки, и расстояние почти целиком определяется пролином. После стандартизации из Б1.6 чистота 0,966: метод почти без ошибок нашел три сорта, ни разу их не видев. Наша инерция 1277,9 совпала с KMeans из sklearn. Задание С8. Напомните: высокая чистота говорит о совпадении с сортами, но не о том, что другой разумной группировки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метода. Объект относится к ближайшему центру, поэтому граница между кластерами – прямая посередине между центрами. «Полумесяцы» метод режет поперек: чистота 0,750. Кроме того, метод ищет кластеры-«шары» примерно одинакового размера, требует задать k заранее, чувствителен к выбросам, потому что среднее тянется к далеким точкам, и к масштабу признаков. Методы, которые ищут группы по плотности точек и справляются с полумесяцами, – на следующем занятии, Б2.4.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сильных учеников – переход к Теме 2 «Компьютерное зрение». Каждый пиксель картинки – точка с тремя координатами: красный, зеленый, синий. Кластеризуем цвета и заменяем каждый пиксель центром его кластера. При k = 16 картинка почти не изменилась, а вместо трех байт на пиксель достаточно четырех бит – номера цвета. Так работают форматы изображений с палитрой. Это задание повышенной сложности 1, решение есть в ноутбуке.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05. Переходим к практике: весь метод пишется с нуля, от шага назначения до кластеризации Wine.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заданий идут в порядке занятия. Темным выделены главные: С4 – сам алгоритм Ллойда, на нем держится вся работа, и С8 – Wine без ответов. После каждой функции – строка «ожидается», числа совпадают со слайдами. Внутри функций только списки, словари, циклы, math и random; sklearn появляется лишь для загрузки Wine и сверки.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ответить без слайдов: чем кластеризация отличается от классификации; что такое инерция; какие два шага делает алгоритм Ллойда и почему он останавливается; зачем повторные запуски и k-means++; почему нельзя выбирать k по минимуму инерции; почему признаки нужно стандартизировать. Если в ответах есть слова «центр», «среднее», «локальный минимум», «локоть» и «масштаб» – тема усвоена. Домашнее задание: закончить практическую работу; сильным – сжатие цветов картинки, беспилотник без разметки и k медиан. Следующее занятие – иерархическая кластеризация, DBSCAN и оценка качества кластеризации.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Кластеризация методом k средних: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найти группы без ответов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9601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«Сколько объектов на парковке? Ответов нет – есть только 280 точек лидара»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сверху, координаты в метрах. Человек видит группы сразу. Как научить компьютер находить их без единого примера с правильным ответом?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кластеризации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без учителя, центры кластеров и инерция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БЕЗ УЧИТЕЛЯ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ответов нет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143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учителем: X и 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и правильные ответы → правило для новых объектов (Блок 1)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1143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188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учителя: только 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002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без ответов → группы похожих объектов: кластеры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517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517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Лидар беспилотника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точек → отдельные объекты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251460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47288" y="26517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26517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Магазин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покупки → группы покупателей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251460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26517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54496" y="26517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757416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Картинка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цветов → 16 главных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– группа объектов, которые похожи друг на друга и отличаются от объектов других групп.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Какая группировка правильная?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кластера «по типу»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37360"/>
            <a:ext cx="320040" cy="320040"/>
          </a:xfrm>
          <a:prstGeom prst="rect">
            <a:avLst/>
          </a:prstGeom>
          <a:solidFill>
            <a:srgbClr val="C63D3D"/>
          </a:solidFill>
          <a:ln w="12700">
            <a:solidFill>
              <a:srgbClr val="C63D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002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грузовик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160020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4328" y="1737360"/>
            <a:ext cx="320040" cy="320040"/>
          </a:xfrm>
          <a:prstGeom prst="rect">
            <a:avLst/>
          </a:prstGeom>
          <a:solidFill>
            <a:srgbClr val="C63D3D"/>
          </a:solidFill>
          <a:ln w="12700">
            <a:solidFill>
              <a:srgbClr val="C63D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6002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легковушка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514600"/>
            <a:ext cx="320040" cy="32004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377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грузовик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237744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4328" y="2514600"/>
            <a:ext cx="320040" cy="32004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63240" y="2377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легковушка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508760"/>
            <a:ext cx="1874520" cy="1600200"/>
          </a:xfrm>
          <a:prstGeom prst="rect">
            <a:avLst/>
          </a:prstGeom>
          <a:ln w="19050">
            <a:solidFill>
              <a:srgbClr val="4C9BF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23160" y="1508760"/>
            <a:ext cx="1874520" cy="1600200"/>
          </a:xfrm>
          <a:prstGeom prst="rect">
            <a:avLst/>
          </a:prstGeom>
          <a:ln w="19050">
            <a:solidFill>
              <a:srgbClr val="4C9BF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кластера «по цвету»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60020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1737360"/>
            <a:ext cx="320040" cy="320040"/>
          </a:xfrm>
          <a:prstGeom prst="rect">
            <a:avLst/>
          </a:prstGeom>
          <a:solidFill>
            <a:srgbClr val="C63D3D"/>
          </a:solidFill>
          <a:ln w="12700">
            <a:solidFill>
              <a:srgbClr val="C63D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16002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грузовик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37744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7488" y="2514600"/>
            <a:ext cx="320040" cy="320040"/>
          </a:xfrm>
          <a:prstGeom prst="rect">
            <a:avLst/>
          </a:prstGeom>
          <a:solidFill>
            <a:srgbClr val="C63D3D"/>
          </a:solidFill>
          <a:ln w="12700">
            <a:solidFill>
              <a:srgbClr val="C63D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2377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легковушка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160020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3448" y="1737360"/>
            <a:ext cx="320040" cy="32004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52360" y="16002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грузовик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03720" y="2377440"/>
            <a:ext cx="16916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3448" y="2514600"/>
            <a:ext cx="320040" cy="32004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360" y="2377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легковушка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1508760"/>
            <a:ext cx="1874520" cy="1600200"/>
          </a:xfrm>
          <a:prstGeom prst="rect">
            <a:avLst/>
          </a:prstGeom>
          <a:ln w="19050">
            <a:solidFill>
              <a:srgbClr val="4C9BFF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812280" y="1508760"/>
            <a:ext cx="1874520" cy="1600200"/>
          </a:xfrm>
          <a:prstGeom prst="rect">
            <a:avLst/>
          </a:prstGeom>
          <a:ln w="19050">
            <a:solidFill>
              <a:srgbClr val="4C9BF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429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разбиения разумны. Алгоритм не знает, какое нужно нам: у кластеризации нет единственного правильного ответа (Гудфеллоу, 5.8.2).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КАЧЕСТВА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Центры кластеров и инерция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14173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Σ ‖xᵢ − μ(cᵢ)‖²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квадратов расстояний от объектов до центров их кластеров; μ – центр, cᵢ – номер кластера объекта 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572000" cy="14173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Считаем вместе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(0; 0) и (2; 0), центр (1; 0):  J = 1 + 1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J, тем «плотнее» кластеры</a:t>
            </a:r>
            <a:endParaRPr lang="en-US" sz="1000" dirty="0"/>
          </a:p>
        </p:txBody>
      </p:sp>
      <p:pic>
        <p:nvPicPr>
          <p:cNvPr id="11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2651760" cy="2926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– число кластеров – задает человек: это гиперпараметр.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Ллойда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Назначение, пересчет и почему алгоритм всегда останавливается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ЛЛОЙДА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шага по очереди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0972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463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начальных центров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0972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10972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1463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объект – к ближайшему центру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0972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0972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Пересчет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1463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= среднее своих объектов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0972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10972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1463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назначения меняются</a:t>
            </a:r>
            <a:endParaRPr lang="en-US" sz="900" dirty="0"/>
          </a:p>
        </p:txBody>
      </p:sp>
      <p:pic>
        <p:nvPicPr>
          <p:cNvPr id="20" name="Image 0" descr="img/lloy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8229600" cy="263347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шаг на пяти точках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(0;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(1;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(9; 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(10; 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(4;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d² до (0;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d² до (10; 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834640"/>
            <a:ext cx="5486400" cy="13258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Пересчет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кластер 0: ((0 + 1 + 4) / 3; (0 + 0 + 5) / 3) = (1,67; 1,67)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кластер 1: ((9 + 10) / 2; (9 + 9) / 2) = (9,5; 9)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143000"/>
            <a:ext cx="2468880" cy="1188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 → 25,8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 до и после пересчета центров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5603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(4; 5) ушла в кластер 0 и «потянула» его центр к себе. На следующем шаге назначения уже не изменятся – алгоритм остановится.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СХОДИМОСТЬ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алгоритм всегда останавливается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1430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1430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124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не увеличивает J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417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объект выбирает ближайший центр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210312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210312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2084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Пересчет не увеличивает J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377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– точка с наименьшей суммой квадратов: для 1, 2, 6 до 3 – 14, до 2 – 17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3063240"/>
            <a:ext cx="384048" cy="338328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30632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Разбиений конечное число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 не растет – значит, алгоритм не может ходить по кругу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 значит «шагами Ллойда улучшать некуда», а не «лучше не бывает».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 решает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минимумы, повторные запуски и k-means++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МИНИМУМЫ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старт – одна попытка</a:t>
            </a:r>
            <a:endParaRPr lang="en-US" sz="2400" dirty="0"/>
          </a:p>
        </p:txBody>
      </p:sp>
      <p:pic>
        <p:nvPicPr>
          <p:cNvPr id="4" name="Image 0" descr="img/bestwo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24505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097280"/>
            <a:ext cx="23774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922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43 %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случайных стартов находят лучшее разбиение 318,4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09360" y="2148840"/>
            <a:ext cx="237744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922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0,57¹⁰ ≈ 0,4 %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шанс промахнуться за 10 запусков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Лекарство: несколько запусков с разных стартов, берем результат с наименьшей инерцией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Начальные центры – подальше друг от друга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«Рулетка»: кусок каждого объекта пропорционален D² – квадрату расстояния до ближайшего выбранного центра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691640"/>
            <a:ext cx="18288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32104" y="1691640"/>
            <a:ext cx="2011680" cy="45720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далекий объект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71216" y="1691640"/>
            <a:ext cx="32004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1216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18688" y="1691640"/>
            <a:ext cx="1463040" cy="45720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18688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далекий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22860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65192" y="1691640"/>
            <a:ext cx="822960" cy="45720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65192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240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рядом с уже выбранным центром получают крошечный кусок и почти никогда не выбираются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5303520" cy="14630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8986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С6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= [min(dist2(x, c) for c in centers) for x in X]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rnd.random() * sum(D2)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идем по объектам, копим D2: где сумма &gt;= r – новый центр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43 % → 69 %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разбиение за один запуск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742,2 → 509,6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инерция одного запуска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246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sklearn по умолчанию оба приема: k-means++ и несколько запусков.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кластеров и границы метода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«локтя», масштаб признаков, ограничения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«ЛОКТЯ»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объектов на парковке?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6: в 2,9 раза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 падает сильно: новый центр нашел объект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7: в 1,3 раза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центр дробит найденный объект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 всегда падает с ростом k (при k = n она 0), поэтому ищем не минимум, а «локоть».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ПРИЗНАКОВ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без ответов: найдет ли метод сорта?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Исходные признаки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26080"/>
            <a:ext cx="384048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чистота 0,702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признаки: пролин с размахом 1402 «перекрикивает» остальные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Стандартизованные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846320" y="2926080"/>
            <a:ext cx="384048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02920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чистота 0,966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стандартизованные признаки: три сорта почти без ошибок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Чистота: в каждом кластере берем самый частый сорт и делим сумму на число вин. Инерция совпала со sklearn: 1277,9.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метод ошибается</a:t>
            </a:r>
            <a:endParaRPr lang="en-US" sz="2400" dirty="0"/>
          </a:p>
        </p:txBody>
      </p:sp>
      <p:pic>
        <p:nvPicPr>
          <p:cNvPr id="4" name="Image 0" descr="img/mo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486400" cy="1993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08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«Полумесяцы»: чистота 0,750. Граница между кластерами – всегда прямая посередине между центрами.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126480" y="1097280"/>
            <a:ext cx="365760" cy="320040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Кластеры-«шары»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вытянутые и изогнутые группы делит неправильно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365760" cy="32004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задаем заранее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148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«локоть» виден не всегда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26480" y="2651760"/>
            <a:ext cx="365760" cy="32004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Выбросы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тянется к далеким точкам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26480" y="3429000"/>
            <a:ext cx="365760" cy="32004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нужно стандартизировать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Методы, которые ищут группы по плотности точек, – на следующем занятии (Б2.4).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Шестнадцать цветов вместо миллионов</a:t>
            </a:r>
            <a:endParaRPr lang="en-US" sz="2400" dirty="0"/>
          </a:p>
        </p:txBody>
      </p:sp>
      <p:pic>
        <p:nvPicPr>
          <p:cNvPr id="4" name="Image 0" descr="img/chi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изображение china.jpg из набора примеров scikit-learn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3474720"/>
            <a:ext cx="397764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3566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пиксель = точка (R, G, B)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77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кластеры цветов, центр – «средний» цвет кластера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3474720"/>
            <a:ext cx="397764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92040" y="3566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байта → 4 бита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3977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k = 16 вместо трех чисел храним номер цвета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k средних своими руками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заданий: от шага назначения до Wine без ответов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заданий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assign_clusters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Пересчет центров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update_centers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65960" cy="10515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2801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Ллойда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запуски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kmeans_restarts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748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kmeans_pp_init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«локтя»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инерция для k = 1…10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66560" y="2377440"/>
            <a:ext cx="1965960" cy="10515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03720" y="251460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С8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без ответов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 · purity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сложность: сжатие цветов картинки, беспилотник без разметки, k медиан, устойчивость числа кластеров, мини-пакеты.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учителя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 нет, ищем группы похожих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Инерция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квадратов расстояний до центров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шага Ллойда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и пересчет, пока меняется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 решает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запуски и k-means++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Локоть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 падает всегда, ищем излом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 и форма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стандартизация; кластеры-«шары»</a:t>
            </a:r>
            <a:endParaRPr lang="en-US" sz="900" dirty="0"/>
          </a:p>
        </p:txBody>
      </p:sp>
      <p:pic>
        <p:nvPicPr>
          <p:cNvPr id="22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Кластеризация методом k средних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Кластеризация методом k средних</dc:title>
  <dc:subject>PptxGenJS Presentation</dc:subject>
  <dc:creator>PptxGenJS</dc:creator>
  <cp:lastModifiedBy>PptxGenJS</cp:lastModifiedBy>
  <cp:revision>1</cp:revision>
  <dcterms:created xsi:type="dcterms:W3CDTF">2026-09-30T11:07:53Z</dcterms:created>
  <dcterms:modified xsi:type="dcterms:W3CDTF">2026-09-30T11:07:53Z</dcterms:modified>
</cp:coreProperties>
</file>